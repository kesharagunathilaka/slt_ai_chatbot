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0000800000000000000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9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62698" y="1931645"/>
            <a:ext cx="14362604" cy="483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36"/>
              </a:lnSpc>
            </a:pPr>
            <a:r>
              <a:rPr lang="en-US" sz="1152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Chatbot </a:t>
            </a:r>
          </a:p>
          <a:p>
            <a:pPr algn="ctr">
              <a:lnSpc>
                <a:spcPts val="12336"/>
              </a:lnSpc>
            </a:pPr>
            <a:r>
              <a:rPr lang="en-US" sz="1152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 </a:t>
            </a:r>
          </a:p>
          <a:p>
            <a:pPr algn="ctr">
              <a:lnSpc>
                <a:spcPts val="12336"/>
              </a:lnSpc>
            </a:pPr>
            <a:r>
              <a:rPr lang="en-US" sz="1152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Services</a:t>
            </a:r>
          </a:p>
        </p:txBody>
      </p:sp>
      <p:sp>
        <p:nvSpPr>
          <p:cNvPr id="3" name="Freeform 3"/>
          <p:cNvSpPr/>
          <p:nvPr/>
        </p:nvSpPr>
        <p:spPr>
          <a:xfrm>
            <a:off x="-744683" y="3428669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77726" y="7092051"/>
            <a:ext cx="12132547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INTELLIGENT MULTILINGUAL ASSISTANT WITH ENHANCED PRIVACY &amp; SECURITY FOR INTELLIGENT INFORMATION ACCESS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3763324" y="6770189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5447285" y="891374"/>
                </a:moveTo>
                <a:lnTo>
                  <a:pt x="0" y="891374"/>
                </a:lnTo>
                <a:lnTo>
                  <a:pt x="0" y="0"/>
                </a:lnTo>
                <a:lnTo>
                  <a:pt x="5447285" y="0"/>
                </a:lnTo>
                <a:lnTo>
                  <a:pt x="5447285" y="891374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8140" y="2081125"/>
            <a:ext cx="6124749" cy="6124749"/>
            <a:chOff x="0" y="0"/>
            <a:chExt cx="863317" cy="863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3317" cy="863317"/>
            </a:xfrm>
            <a:custGeom>
              <a:avLst/>
              <a:gdLst/>
              <a:ahLst/>
              <a:cxnLst/>
              <a:rect l="l" t="t" r="r" b="b"/>
              <a:pathLst>
                <a:path w="863317" h="863317">
                  <a:moveTo>
                    <a:pt x="91011" y="0"/>
                  </a:moveTo>
                  <a:lnTo>
                    <a:pt x="772306" y="0"/>
                  </a:lnTo>
                  <a:cubicBezTo>
                    <a:pt x="822570" y="0"/>
                    <a:pt x="863317" y="40747"/>
                    <a:pt x="863317" y="91011"/>
                  </a:cubicBezTo>
                  <a:lnTo>
                    <a:pt x="863317" y="772306"/>
                  </a:lnTo>
                  <a:cubicBezTo>
                    <a:pt x="863317" y="822570"/>
                    <a:pt x="822570" y="863317"/>
                    <a:pt x="772306" y="863317"/>
                  </a:cubicBezTo>
                  <a:lnTo>
                    <a:pt x="91011" y="863317"/>
                  </a:lnTo>
                  <a:cubicBezTo>
                    <a:pt x="40747" y="863317"/>
                    <a:pt x="0" y="822570"/>
                    <a:pt x="0" y="772306"/>
                  </a:cubicBezTo>
                  <a:lnTo>
                    <a:pt x="0" y="91011"/>
                  </a:lnTo>
                  <a:cubicBezTo>
                    <a:pt x="0" y="40747"/>
                    <a:pt x="40747" y="0"/>
                    <a:pt x="910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131D">
                    <a:alpha val="100000"/>
                  </a:srgbClr>
                </a:gs>
                <a:gs pos="100000">
                  <a:srgbClr val="0F2E4A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63317" cy="901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61862" y="1904801"/>
            <a:ext cx="9326880" cy="6301074"/>
            <a:chOff x="0" y="0"/>
            <a:chExt cx="6350000" cy="42899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4289947"/>
            </a:xfrm>
            <a:custGeom>
              <a:avLst/>
              <a:gdLst/>
              <a:ahLst/>
              <a:cxnLst/>
              <a:rect l="l" t="t" r="r" b="b"/>
              <a:pathLst>
                <a:path w="6350000" h="4289947">
                  <a:moveTo>
                    <a:pt x="0" y="3646455"/>
                  </a:moveTo>
                  <a:lnTo>
                    <a:pt x="0" y="643492"/>
                  </a:lnTo>
                  <a:cubicBezTo>
                    <a:pt x="0" y="287426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287426"/>
                    <a:pt x="6350000" y="643492"/>
                  </a:cubicBezTo>
                  <a:lnTo>
                    <a:pt x="6350000" y="3646455"/>
                  </a:lnTo>
                  <a:cubicBezTo>
                    <a:pt x="6350000" y="4002520"/>
                    <a:pt x="6179820" y="4289947"/>
                    <a:pt x="5969000" y="4289947"/>
                  </a:cubicBezTo>
                  <a:lnTo>
                    <a:pt x="381000" y="4289947"/>
                  </a:lnTo>
                  <a:cubicBezTo>
                    <a:pt x="170180" y="4289947"/>
                    <a:pt x="0" y="4002520"/>
                    <a:pt x="0" y="3646455"/>
                  </a:cubicBezTo>
                  <a:close/>
                </a:path>
              </a:pathLst>
            </a:custGeom>
            <a:blipFill>
              <a:blip r:embed="rId2"/>
              <a:stretch>
                <a:fillRect l="-605" r="-605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3066322" y="6527052"/>
            <a:ext cx="3657600" cy="871174"/>
          </a:xfrm>
          <a:custGeom>
            <a:avLst/>
            <a:gdLst/>
            <a:ahLst/>
            <a:cxnLst/>
            <a:rect l="l" t="t" r="r" b="b"/>
            <a:pathLst>
              <a:path w="3657600" h="871174">
                <a:moveTo>
                  <a:pt x="0" y="0"/>
                </a:moveTo>
                <a:lnTo>
                  <a:pt x="3657600" y="0"/>
                </a:lnTo>
                <a:lnTo>
                  <a:pt x="3657600" y="871174"/>
                </a:lnTo>
                <a:lnTo>
                  <a:pt x="0" y="871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613114" y="1005641"/>
            <a:ext cx="8110807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13114" y="2094394"/>
            <a:ext cx="8646186" cy="651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800"/>
              </a:lnSpc>
              <a:buFont typeface="Arial"/>
              <a:buChar char="•"/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 Accessibility 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→ Manual browsing through irrelevant pages is time-consuming.</a:t>
            </a:r>
          </a:p>
          <a:p>
            <a:pPr marL="518160" lvl="1" indent="-259080" algn="l">
              <a:lnSpc>
                <a:spcPts val="4800"/>
              </a:lnSpc>
              <a:buFont typeface="Arial"/>
              <a:buChar char="•"/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Security Concerns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Public LLMs, DBs risk exposing private data and customer information.</a:t>
            </a:r>
          </a:p>
          <a:p>
            <a:pPr marL="518160" lvl="1" indent="-259080" algn="l">
              <a:lnSpc>
                <a:spcPts val="4800"/>
              </a:lnSpc>
              <a:buFont typeface="Arial"/>
              <a:buChar char="•"/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Language Barriers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Websites mostly in English; excludes Sinhala and Tamil users.</a:t>
            </a:r>
          </a:p>
          <a:p>
            <a:pPr marL="518160" lvl="1" indent="-259080" algn="l">
              <a:lnSpc>
                <a:spcPts val="4800"/>
              </a:lnSpc>
              <a:buFont typeface="Arial"/>
              <a:buChar char="•"/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Inefficient Search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Poor natural language understanding and irrelevant results.</a:t>
            </a:r>
          </a:p>
          <a:p>
            <a:pPr marL="518160" lvl="1" indent="-259080" algn="l">
              <a:lnSpc>
                <a:spcPts val="4800"/>
              </a:lnSpc>
              <a:buFont typeface="Arial"/>
              <a:buChar char="•"/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Limited Multilingual Support</a:t>
            </a: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→ Few solutions support Sri Lankan linguistic diversity.</a:t>
            </a:r>
          </a:p>
          <a:p>
            <a:pPr algn="just">
              <a:lnSpc>
                <a:spcPts val="3137"/>
              </a:lnSpc>
            </a:pPr>
            <a:endParaRPr lang="en-US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-1361862" y="8164257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560029" y="2144849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20065" y="1937385"/>
            <a:ext cx="3051928" cy="4562315"/>
            <a:chOff x="0" y="0"/>
            <a:chExt cx="3690979" cy="55176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90979" cy="5517629"/>
            </a:xfrm>
            <a:custGeom>
              <a:avLst/>
              <a:gdLst/>
              <a:ahLst/>
              <a:cxnLst/>
              <a:rect l="l" t="t" r="r" b="b"/>
              <a:pathLst>
                <a:path w="3690979" h="5517629">
                  <a:moveTo>
                    <a:pt x="2359537" y="5517629"/>
                  </a:moveTo>
                  <a:lnTo>
                    <a:pt x="0" y="5517629"/>
                  </a:lnTo>
                  <a:lnTo>
                    <a:pt x="0" y="896780"/>
                  </a:lnTo>
                  <a:cubicBezTo>
                    <a:pt x="0" y="400901"/>
                    <a:pt x="595213" y="0"/>
                    <a:pt x="1331442" y="0"/>
                  </a:cubicBezTo>
                  <a:lnTo>
                    <a:pt x="3690979" y="0"/>
                  </a:lnTo>
                  <a:lnTo>
                    <a:pt x="3690979" y="4620849"/>
                  </a:lnTo>
                  <a:cubicBezTo>
                    <a:pt x="3690979" y="5116729"/>
                    <a:pt x="3095765" y="5517629"/>
                    <a:pt x="2359537" y="5517629"/>
                  </a:cubicBezTo>
                  <a:close/>
                </a:path>
              </a:pathLst>
            </a:custGeom>
            <a:blipFill>
              <a:blip r:embed="rId2"/>
              <a:stretch>
                <a:fillRect t="-202" b="-20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282822" y="1038225"/>
            <a:ext cx="9836400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Value &amp; Potential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2822" y="2674566"/>
            <a:ext cx="7825892" cy="329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just">
              <a:lnSpc>
                <a:spcPts val="44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Security &amp; Privacy</a:t>
            </a:r>
          </a:p>
          <a:p>
            <a:pPr marL="561337" lvl="1" indent="-280669" algn="just">
              <a:lnSpc>
                <a:spcPts val="44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 Saving &amp; Efficiency</a:t>
            </a:r>
          </a:p>
          <a:p>
            <a:pPr marL="561337" lvl="1" indent="-280669" algn="just">
              <a:lnSpc>
                <a:spcPts val="44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 Human Agents &amp; Call Center Load</a:t>
            </a:r>
          </a:p>
          <a:p>
            <a:pPr marL="561337" lvl="1" indent="-280669" algn="just">
              <a:lnSpc>
                <a:spcPts val="44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Instant Updated Data Delivery</a:t>
            </a:r>
          </a:p>
          <a:p>
            <a:pPr marL="561337" lvl="1" indent="-280669" algn="just">
              <a:lnSpc>
                <a:spcPts val="441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24/7 Service Availability</a:t>
            </a:r>
          </a:p>
          <a:p>
            <a:pPr algn="just">
              <a:lnSpc>
                <a:spcPts val="4419"/>
              </a:lnSpc>
            </a:pPr>
            <a:endParaRPr lang="en-US" sz="25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82822" y="5824167"/>
            <a:ext cx="15862056" cy="425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just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Citizens </a:t>
            </a:r>
          </a:p>
          <a:p>
            <a:pPr marL="1079496" lvl="2" indent="-359832" algn="just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Faster, trustworthy, and accessible answers in their preferred language</a:t>
            </a:r>
          </a:p>
          <a:p>
            <a:pPr marL="539748" lvl="1" indent="-269874" algn="l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Government</a:t>
            </a:r>
          </a:p>
          <a:p>
            <a:pPr marL="1079496" lvl="2" indent="-359832" algn="just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Reduced call center load, improved transparency, and better public service delivery</a:t>
            </a:r>
          </a:p>
          <a:p>
            <a:pPr marL="539748" lvl="1" indent="-269874" algn="just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Businesses</a:t>
            </a:r>
          </a:p>
          <a:p>
            <a:pPr marL="1079496" lvl="2" indent="-359832" algn="just">
              <a:lnSpc>
                <a:spcPts val="42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Reliable information access for informed decision-making and improved customer experience</a:t>
            </a:r>
          </a:p>
          <a:p>
            <a:pPr algn="just">
              <a:lnSpc>
                <a:spcPts val="4249"/>
              </a:lnSpc>
            </a:pPr>
            <a:endParaRPr lang="en-US" sz="24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671993" y="1028700"/>
            <a:ext cx="3051928" cy="4648934"/>
            <a:chOff x="0" y="0"/>
            <a:chExt cx="3690979" cy="56223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90979" cy="5622386"/>
            </a:xfrm>
            <a:custGeom>
              <a:avLst/>
              <a:gdLst/>
              <a:ahLst/>
              <a:cxnLst/>
              <a:rect l="l" t="t" r="r" b="b"/>
              <a:pathLst>
                <a:path w="3690979" h="5622386">
                  <a:moveTo>
                    <a:pt x="2359537" y="5622386"/>
                  </a:moveTo>
                  <a:lnTo>
                    <a:pt x="0" y="5622386"/>
                  </a:lnTo>
                  <a:lnTo>
                    <a:pt x="0" y="913807"/>
                  </a:lnTo>
                  <a:cubicBezTo>
                    <a:pt x="0" y="408512"/>
                    <a:pt x="595213" y="0"/>
                    <a:pt x="1331442" y="0"/>
                  </a:cubicBezTo>
                  <a:lnTo>
                    <a:pt x="3690979" y="0"/>
                  </a:lnTo>
                  <a:lnTo>
                    <a:pt x="3690979" y="4708579"/>
                  </a:lnTo>
                  <a:cubicBezTo>
                    <a:pt x="3690979" y="5213874"/>
                    <a:pt x="3095765" y="5622386"/>
                    <a:pt x="2359537" y="5622386"/>
                  </a:cubicBezTo>
                  <a:close/>
                </a:path>
              </a:pathLst>
            </a:custGeom>
            <a:blipFill>
              <a:blip r:embed="rId3"/>
              <a:stretch>
                <a:fillRect l="-744" r="-744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4000279" y="7276061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359433" y="7491426"/>
            <a:ext cx="4442597" cy="945061"/>
          </a:xfrm>
          <a:custGeom>
            <a:avLst/>
            <a:gdLst/>
            <a:ahLst/>
            <a:cxnLst/>
            <a:rect l="l" t="t" r="r" b="b"/>
            <a:pathLst>
              <a:path w="4442597" h="945061">
                <a:moveTo>
                  <a:pt x="0" y="0"/>
                </a:moveTo>
                <a:lnTo>
                  <a:pt x="4442597" y="0"/>
                </a:lnTo>
                <a:lnTo>
                  <a:pt x="4442597" y="945061"/>
                </a:lnTo>
                <a:lnTo>
                  <a:pt x="0" y="945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77552" y="2155331"/>
            <a:ext cx="5246370" cy="5246370"/>
            <a:chOff x="0" y="0"/>
            <a:chExt cx="739505" cy="7395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9505" cy="739505"/>
            </a:xfrm>
            <a:custGeom>
              <a:avLst/>
              <a:gdLst/>
              <a:ahLst/>
              <a:cxnLst/>
              <a:rect l="l" t="t" r="r" b="b"/>
              <a:pathLst>
                <a:path w="739505" h="739505">
                  <a:moveTo>
                    <a:pt x="106248" y="0"/>
                  </a:moveTo>
                  <a:lnTo>
                    <a:pt x="633256" y="0"/>
                  </a:lnTo>
                  <a:cubicBezTo>
                    <a:pt x="691936" y="0"/>
                    <a:pt x="739505" y="47569"/>
                    <a:pt x="739505" y="106248"/>
                  </a:cubicBezTo>
                  <a:lnTo>
                    <a:pt x="739505" y="633256"/>
                  </a:lnTo>
                  <a:cubicBezTo>
                    <a:pt x="739505" y="661435"/>
                    <a:pt x="728311" y="688460"/>
                    <a:pt x="708385" y="708385"/>
                  </a:cubicBezTo>
                  <a:cubicBezTo>
                    <a:pt x="688460" y="728311"/>
                    <a:pt x="661435" y="739505"/>
                    <a:pt x="633256" y="739505"/>
                  </a:cubicBezTo>
                  <a:lnTo>
                    <a:pt x="106248" y="739505"/>
                  </a:lnTo>
                  <a:cubicBezTo>
                    <a:pt x="78070" y="739505"/>
                    <a:pt x="51045" y="728311"/>
                    <a:pt x="31119" y="708385"/>
                  </a:cubicBezTo>
                  <a:cubicBezTo>
                    <a:pt x="11194" y="688460"/>
                    <a:pt x="0" y="661435"/>
                    <a:pt x="0" y="633256"/>
                  </a:cubicBezTo>
                  <a:lnTo>
                    <a:pt x="0" y="106248"/>
                  </a:lnTo>
                  <a:cubicBezTo>
                    <a:pt x="0" y="78070"/>
                    <a:pt x="11194" y="51045"/>
                    <a:pt x="31119" y="31119"/>
                  </a:cubicBezTo>
                  <a:cubicBezTo>
                    <a:pt x="51045" y="11194"/>
                    <a:pt x="78070" y="0"/>
                    <a:pt x="10624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131D">
                    <a:alpha val="100000"/>
                  </a:srgbClr>
                </a:gs>
                <a:gs pos="100000">
                  <a:srgbClr val="0F2E4A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39505" cy="777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251509" flipH="1">
            <a:off x="11997708" y="487399"/>
            <a:ext cx="5407364" cy="11206973"/>
          </a:xfrm>
          <a:custGeom>
            <a:avLst/>
            <a:gdLst/>
            <a:ahLst/>
            <a:cxnLst/>
            <a:rect l="l" t="t" r="r" b="b"/>
            <a:pathLst>
              <a:path w="5407364" h="11206973">
                <a:moveTo>
                  <a:pt x="5407364" y="0"/>
                </a:moveTo>
                <a:lnTo>
                  <a:pt x="0" y="0"/>
                </a:lnTo>
                <a:lnTo>
                  <a:pt x="0" y="11206973"/>
                </a:lnTo>
                <a:lnTo>
                  <a:pt x="5407364" y="11206973"/>
                </a:lnTo>
                <a:lnTo>
                  <a:pt x="540736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1906991"/>
            <a:ext cx="2031358" cy="2100088"/>
          </a:xfrm>
          <a:custGeom>
            <a:avLst/>
            <a:gdLst/>
            <a:ahLst/>
            <a:cxnLst/>
            <a:rect l="l" t="t" r="r" b="b"/>
            <a:pathLst>
              <a:path w="2031358" h="2100088">
                <a:moveTo>
                  <a:pt x="0" y="0"/>
                </a:moveTo>
                <a:lnTo>
                  <a:pt x="2031358" y="0"/>
                </a:lnTo>
                <a:lnTo>
                  <a:pt x="2031358" y="2100088"/>
                </a:lnTo>
                <a:lnTo>
                  <a:pt x="0" y="210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93379" y="1256171"/>
            <a:ext cx="7971578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Our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2901" y="2504781"/>
            <a:ext cx="7866338" cy="645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 an intelligent multilingual chatbot (English, Sinhala, Tamil).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services run on private servers, ensuring complete data protection and customer confidentiality.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 information discovery time.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 natural language queries in local languages.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Deliver accurate, context-aware responses from website/given data.</a:t>
            </a:r>
          </a:p>
          <a:p>
            <a:pPr marL="561337" lvl="1" indent="-280669" algn="l">
              <a:lnSpc>
                <a:spcPts val="467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Improve user experience &amp; accessibility.</a:t>
            </a:r>
          </a:p>
        </p:txBody>
      </p:sp>
      <p:sp>
        <p:nvSpPr>
          <p:cNvPr id="9" name="Freeform 9"/>
          <p:cNvSpPr/>
          <p:nvPr/>
        </p:nvSpPr>
        <p:spPr>
          <a:xfrm>
            <a:off x="5316070" y="6528824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34392" y="6301342"/>
            <a:ext cx="4213570" cy="850375"/>
          </a:xfrm>
          <a:custGeom>
            <a:avLst/>
            <a:gdLst/>
            <a:ahLst/>
            <a:cxnLst/>
            <a:rect l="l" t="t" r="r" b="b"/>
            <a:pathLst>
              <a:path w="4213570" h="850375">
                <a:moveTo>
                  <a:pt x="0" y="0"/>
                </a:moveTo>
                <a:lnTo>
                  <a:pt x="4213570" y="0"/>
                </a:lnTo>
                <a:lnTo>
                  <a:pt x="4213570" y="850375"/>
                </a:lnTo>
                <a:lnTo>
                  <a:pt x="0" y="850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35365" y="7637170"/>
            <a:ext cx="2823505" cy="1072932"/>
          </a:xfrm>
          <a:custGeom>
            <a:avLst/>
            <a:gdLst/>
            <a:ahLst/>
            <a:cxnLst/>
            <a:rect l="l" t="t" r="r" b="b"/>
            <a:pathLst>
              <a:path w="2823505" h="1072932">
                <a:moveTo>
                  <a:pt x="0" y="0"/>
                </a:moveTo>
                <a:lnTo>
                  <a:pt x="2823505" y="0"/>
                </a:lnTo>
                <a:lnTo>
                  <a:pt x="2823505" y="1072932"/>
                </a:lnTo>
                <a:lnTo>
                  <a:pt x="0" y="1072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42952" y="1038225"/>
            <a:ext cx="16010020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Implementation: SLT.lk Website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2952" y="2433264"/>
            <a:ext cx="15626017" cy="718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4079"/>
              </a:lnSpc>
              <a:buAutoNum type="arabicPeriod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 Ingestion Layer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Automated web scraping system extracts and processes all SLT website content, ensuring comprehensive coverage. Additional updated data not available on the website can be integrated separately for real-time accuracy.</a:t>
            </a:r>
          </a:p>
          <a:p>
            <a:pPr algn="just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2. </a:t>
            </a: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Vector Database Storage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vector database implementation stores processed content with semantic understanding, enabling efficient similarity-based retrieval of relevant SLT service information.</a:t>
            </a:r>
          </a:p>
          <a:p>
            <a:pPr algn="just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3. </a:t>
            </a: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Multilingual Query Processing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Natural language processing capabilities understand and interpret customer questions in English, Sinhala, and Tamil.</a:t>
            </a:r>
          </a:p>
          <a:p>
            <a:pPr algn="just">
              <a:lnSpc>
                <a:spcPts val="407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4. </a:t>
            </a: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Local LLM Integration</a:t>
            </a:r>
          </a:p>
          <a:p>
            <a:pPr marL="518160" lvl="1" indent="-259080" algn="just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 of local large language models generates contextually appropriate responses based on SLT website content, ensuring customer data privacy and fast response times.</a:t>
            </a:r>
          </a:p>
          <a:p>
            <a:pPr algn="just">
              <a:lnSpc>
                <a:spcPts val="4079"/>
              </a:lnSpc>
            </a:pPr>
            <a:endParaRPr lang="en-US"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88033" y="-1146088"/>
            <a:ext cx="20464065" cy="3747859"/>
            <a:chOff x="0" y="0"/>
            <a:chExt cx="13932506" cy="25516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2506" cy="2551647"/>
            </a:xfrm>
            <a:custGeom>
              <a:avLst/>
              <a:gdLst/>
              <a:ahLst/>
              <a:cxnLst/>
              <a:rect l="l" t="t" r="r" b="b"/>
              <a:pathLst>
                <a:path w="13932506" h="2551647">
                  <a:moveTo>
                    <a:pt x="0" y="2168900"/>
                  </a:moveTo>
                  <a:lnTo>
                    <a:pt x="0" y="382747"/>
                  </a:lnTo>
                  <a:cubicBezTo>
                    <a:pt x="0" y="170960"/>
                    <a:pt x="373391" y="0"/>
                    <a:pt x="835950" y="0"/>
                  </a:cubicBezTo>
                  <a:lnTo>
                    <a:pt x="13096556" y="0"/>
                  </a:lnTo>
                  <a:cubicBezTo>
                    <a:pt x="13559115" y="0"/>
                    <a:pt x="13932506" y="170960"/>
                    <a:pt x="13932506" y="382747"/>
                  </a:cubicBezTo>
                  <a:lnTo>
                    <a:pt x="13932506" y="2168900"/>
                  </a:lnTo>
                  <a:cubicBezTo>
                    <a:pt x="13932506" y="2380687"/>
                    <a:pt x="13559115" y="2551647"/>
                    <a:pt x="13096556" y="2551647"/>
                  </a:cubicBezTo>
                  <a:lnTo>
                    <a:pt x="835950" y="2551647"/>
                  </a:lnTo>
                  <a:cubicBezTo>
                    <a:pt x="373391" y="2551647"/>
                    <a:pt x="0" y="2380687"/>
                    <a:pt x="0" y="2168900"/>
                  </a:cubicBezTo>
                  <a:close/>
                </a:path>
              </a:pathLst>
            </a:custGeom>
            <a:blipFill>
              <a:blip r:embed="rId2"/>
              <a:stretch>
                <a:fillRect t="-131892" b="-13189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23239" y="3082420"/>
            <a:ext cx="4235941" cy="6175880"/>
            <a:chOff x="0" y="0"/>
            <a:chExt cx="597079" cy="8705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7079" cy="870524"/>
            </a:xfrm>
            <a:custGeom>
              <a:avLst/>
              <a:gdLst/>
              <a:ahLst/>
              <a:cxnLst/>
              <a:rect l="l" t="t" r="r" b="b"/>
              <a:pathLst>
                <a:path w="597079" h="870524">
                  <a:moveTo>
                    <a:pt x="36553" y="0"/>
                  </a:moveTo>
                  <a:lnTo>
                    <a:pt x="560526" y="0"/>
                  </a:lnTo>
                  <a:cubicBezTo>
                    <a:pt x="570220" y="0"/>
                    <a:pt x="579518" y="3851"/>
                    <a:pt x="586373" y="10706"/>
                  </a:cubicBezTo>
                  <a:cubicBezTo>
                    <a:pt x="593228" y="17561"/>
                    <a:pt x="597079" y="26859"/>
                    <a:pt x="597079" y="36553"/>
                  </a:cubicBezTo>
                  <a:lnTo>
                    <a:pt x="597079" y="833971"/>
                  </a:lnTo>
                  <a:cubicBezTo>
                    <a:pt x="597079" y="843665"/>
                    <a:pt x="593228" y="852963"/>
                    <a:pt x="586373" y="859818"/>
                  </a:cubicBezTo>
                  <a:cubicBezTo>
                    <a:pt x="579518" y="866673"/>
                    <a:pt x="570220" y="870524"/>
                    <a:pt x="560526" y="870524"/>
                  </a:cubicBezTo>
                  <a:lnTo>
                    <a:pt x="36553" y="870524"/>
                  </a:lnTo>
                  <a:cubicBezTo>
                    <a:pt x="26859" y="870524"/>
                    <a:pt x="17561" y="866673"/>
                    <a:pt x="10706" y="859818"/>
                  </a:cubicBezTo>
                  <a:cubicBezTo>
                    <a:pt x="3851" y="852963"/>
                    <a:pt x="0" y="843665"/>
                    <a:pt x="0" y="833971"/>
                  </a:cubicBezTo>
                  <a:lnTo>
                    <a:pt x="0" y="36553"/>
                  </a:lnTo>
                  <a:cubicBezTo>
                    <a:pt x="0" y="26859"/>
                    <a:pt x="3851" y="17561"/>
                    <a:pt x="10706" y="10706"/>
                  </a:cubicBezTo>
                  <a:cubicBezTo>
                    <a:pt x="17561" y="3851"/>
                    <a:pt x="26859" y="0"/>
                    <a:pt x="365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131D">
                    <a:alpha val="85000"/>
                  </a:srgbClr>
                </a:gs>
                <a:gs pos="100000">
                  <a:srgbClr val="0F2E4A">
                    <a:alpha val="85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97079" cy="908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1359433" y="7491426"/>
            <a:ext cx="4442597" cy="945061"/>
          </a:xfrm>
          <a:custGeom>
            <a:avLst/>
            <a:gdLst/>
            <a:ahLst/>
            <a:cxnLst/>
            <a:rect l="l" t="t" r="r" b="b"/>
            <a:pathLst>
              <a:path w="4442597" h="945061">
                <a:moveTo>
                  <a:pt x="0" y="0"/>
                </a:moveTo>
                <a:lnTo>
                  <a:pt x="4442597" y="0"/>
                </a:lnTo>
                <a:lnTo>
                  <a:pt x="4442597" y="945061"/>
                </a:lnTo>
                <a:lnTo>
                  <a:pt x="0" y="9450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27444" y="737367"/>
            <a:ext cx="15033113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 &amp; RAG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6249" y="3916900"/>
            <a:ext cx="3631079" cy="185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9"/>
              </a:lnSpc>
            </a:pP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React + Vite: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Modern, fast, and responsive user interface with hot reload capabilities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2163" y="6881668"/>
            <a:ext cx="3631079" cy="185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9"/>
              </a:lnSpc>
            </a:pP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Flask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Lightweight, flexible web framework for API development and request handling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6249" y="3414352"/>
            <a:ext cx="370992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Development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6249" y="6321598"/>
            <a:ext cx="3368069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Framework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25535" y="3082420"/>
            <a:ext cx="4235941" cy="6175880"/>
            <a:chOff x="0" y="0"/>
            <a:chExt cx="597079" cy="8705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97079" cy="870524"/>
            </a:xfrm>
            <a:custGeom>
              <a:avLst/>
              <a:gdLst/>
              <a:ahLst/>
              <a:cxnLst/>
              <a:rect l="l" t="t" r="r" b="b"/>
              <a:pathLst>
                <a:path w="597079" h="870524">
                  <a:moveTo>
                    <a:pt x="36553" y="0"/>
                  </a:moveTo>
                  <a:lnTo>
                    <a:pt x="560526" y="0"/>
                  </a:lnTo>
                  <a:cubicBezTo>
                    <a:pt x="570220" y="0"/>
                    <a:pt x="579518" y="3851"/>
                    <a:pt x="586373" y="10706"/>
                  </a:cubicBezTo>
                  <a:cubicBezTo>
                    <a:pt x="593228" y="17561"/>
                    <a:pt x="597079" y="26859"/>
                    <a:pt x="597079" y="36553"/>
                  </a:cubicBezTo>
                  <a:lnTo>
                    <a:pt x="597079" y="833971"/>
                  </a:lnTo>
                  <a:cubicBezTo>
                    <a:pt x="597079" y="843665"/>
                    <a:pt x="593228" y="852963"/>
                    <a:pt x="586373" y="859818"/>
                  </a:cubicBezTo>
                  <a:cubicBezTo>
                    <a:pt x="579518" y="866673"/>
                    <a:pt x="570220" y="870524"/>
                    <a:pt x="560526" y="870524"/>
                  </a:cubicBezTo>
                  <a:lnTo>
                    <a:pt x="36553" y="870524"/>
                  </a:lnTo>
                  <a:cubicBezTo>
                    <a:pt x="26859" y="870524"/>
                    <a:pt x="17561" y="866673"/>
                    <a:pt x="10706" y="859818"/>
                  </a:cubicBezTo>
                  <a:cubicBezTo>
                    <a:pt x="3851" y="852963"/>
                    <a:pt x="0" y="843665"/>
                    <a:pt x="0" y="833971"/>
                  </a:cubicBezTo>
                  <a:lnTo>
                    <a:pt x="0" y="36553"/>
                  </a:lnTo>
                  <a:cubicBezTo>
                    <a:pt x="0" y="26859"/>
                    <a:pt x="3851" y="17561"/>
                    <a:pt x="10706" y="10706"/>
                  </a:cubicBezTo>
                  <a:cubicBezTo>
                    <a:pt x="17561" y="3851"/>
                    <a:pt x="26859" y="0"/>
                    <a:pt x="365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131D">
                    <a:alpha val="85000"/>
                  </a:srgbClr>
                </a:gs>
                <a:gs pos="100000">
                  <a:srgbClr val="0F2E4A">
                    <a:alpha val="85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97079" cy="908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88545" y="4070523"/>
            <a:ext cx="3631079" cy="231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PostgreSQL: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Robust relational database for structured data management</a:t>
            </a:r>
          </a:p>
          <a:p>
            <a:pPr algn="just">
              <a:lnSpc>
                <a:spcPts val="3739"/>
              </a:lnSpc>
            </a:pPr>
            <a:endParaRPr lang="en-US" sz="21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288545" y="6264448"/>
            <a:ext cx="3631079" cy="231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39"/>
              </a:lnSpc>
            </a:pP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Milvus: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High-performance vector database for semantic search and similarity matching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1555" y="3414352"/>
            <a:ext cx="370992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Systems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728326" y="3082420"/>
            <a:ext cx="4235941" cy="6175880"/>
            <a:chOff x="0" y="0"/>
            <a:chExt cx="597079" cy="87052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7079" cy="870524"/>
            </a:xfrm>
            <a:custGeom>
              <a:avLst/>
              <a:gdLst/>
              <a:ahLst/>
              <a:cxnLst/>
              <a:rect l="l" t="t" r="r" b="b"/>
              <a:pathLst>
                <a:path w="597079" h="870524">
                  <a:moveTo>
                    <a:pt x="36553" y="0"/>
                  </a:moveTo>
                  <a:lnTo>
                    <a:pt x="560526" y="0"/>
                  </a:lnTo>
                  <a:cubicBezTo>
                    <a:pt x="570220" y="0"/>
                    <a:pt x="579518" y="3851"/>
                    <a:pt x="586373" y="10706"/>
                  </a:cubicBezTo>
                  <a:cubicBezTo>
                    <a:pt x="593228" y="17561"/>
                    <a:pt x="597079" y="26859"/>
                    <a:pt x="597079" y="36553"/>
                  </a:cubicBezTo>
                  <a:lnTo>
                    <a:pt x="597079" y="833971"/>
                  </a:lnTo>
                  <a:cubicBezTo>
                    <a:pt x="597079" y="843665"/>
                    <a:pt x="593228" y="852963"/>
                    <a:pt x="586373" y="859818"/>
                  </a:cubicBezTo>
                  <a:cubicBezTo>
                    <a:pt x="579518" y="866673"/>
                    <a:pt x="570220" y="870524"/>
                    <a:pt x="560526" y="870524"/>
                  </a:cubicBezTo>
                  <a:lnTo>
                    <a:pt x="36553" y="870524"/>
                  </a:lnTo>
                  <a:cubicBezTo>
                    <a:pt x="26859" y="870524"/>
                    <a:pt x="17561" y="866673"/>
                    <a:pt x="10706" y="859818"/>
                  </a:cubicBezTo>
                  <a:cubicBezTo>
                    <a:pt x="3851" y="852963"/>
                    <a:pt x="0" y="843665"/>
                    <a:pt x="0" y="833971"/>
                  </a:cubicBezTo>
                  <a:lnTo>
                    <a:pt x="0" y="36553"/>
                  </a:lnTo>
                  <a:cubicBezTo>
                    <a:pt x="0" y="26859"/>
                    <a:pt x="3851" y="17561"/>
                    <a:pt x="10706" y="10706"/>
                  </a:cubicBezTo>
                  <a:cubicBezTo>
                    <a:pt x="17561" y="3851"/>
                    <a:pt x="26859" y="0"/>
                    <a:pt x="365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131D">
                    <a:alpha val="85000"/>
                  </a:srgbClr>
                </a:gs>
                <a:gs pos="100000">
                  <a:srgbClr val="0F2E4A">
                    <a:alpha val="85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97079" cy="9086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90276" y="3878645"/>
            <a:ext cx="3631079" cy="278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BeautifulSoup / Crawl4AI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&amp; Tesseract OCR:</a:t>
            </a:r>
          </a:p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extraction and Intelligent web crawling and Text extraction from images and documents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90276" y="7222663"/>
            <a:ext cx="3631079" cy="185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LLaMA : Advanced language models via Ollama for local deployment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47803" y="3414352"/>
            <a:ext cx="452552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 Crawl &amp; Process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14361" y="6758370"/>
            <a:ext cx="3606994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&amp; Language Models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474" y="2098232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3"/>
                </a:lnTo>
                <a:lnTo>
                  <a:pt x="0" y="891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948251" y="2098232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5447285" y="0"/>
                </a:moveTo>
                <a:lnTo>
                  <a:pt x="0" y="0"/>
                </a:lnTo>
                <a:lnTo>
                  <a:pt x="0" y="891373"/>
                </a:lnTo>
                <a:lnTo>
                  <a:pt x="5447285" y="891373"/>
                </a:lnTo>
                <a:lnTo>
                  <a:pt x="5447285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863066"/>
            <a:ext cx="16230600" cy="6395234"/>
          </a:xfrm>
          <a:custGeom>
            <a:avLst/>
            <a:gdLst/>
            <a:ahLst/>
            <a:cxnLst/>
            <a:rect l="l" t="t" r="r" b="b"/>
            <a:pathLst>
              <a:path w="16230600" h="6395234">
                <a:moveTo>
                  <a:pt x="0" y="0"/>
                </a:moveTo>
                <a:lnTo>
                  <a:pt x="16230600" y="0"/>
                </a:lnTo>
                <a:lnTo>
                  <a:pt x="16230600" y="6395234"/>
                </a:lnTo>
                <a:lnTo>
                  <a:pt x="0" y="6395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39507" y="1038225"/>
            <a:ext cx="10608987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4419" y="888439"/>
            <a:ext cx="8260985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Impact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04419" y="2068244"/>
            <a:ext cx="8616916" cy="218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9"/>
              </a:lnSpc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AI chatbot represents a paradigm shift from frustrating manual navigation to intelligent, instant, and secure digital assistance in users' preferred languages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61781" y="4356202"/>
            <a:ext cx="10141739" cy="512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Privacy-First Approach</a:t>
            </a:r>
          </a:p>
          <a:p>
            <a:pPr marL="1036317" lvl="2" indent="-345439" algn="l">
              <a:lnSpc>
                <a:spcPts val="407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Local server deployment ensures data sovereignty and builds public trust in digital services</a:t>
            </a:r>
          </a:p>
          <a:p>
            <a:pPr marL="518158" lvl="1" indent="-259079" algn="l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Inclusive Technology</a:t>
            </a:r>
          </a:p>
          <a:p>
            <a:pPr marL="1036317" lvl="2" indent="-345439" algn="l">
              <a:lnSpc>
                <a:spcPts val="407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Breaking language barriers to make digital services accessible to all Sri Lankan communities</a:t>
            </a:r>
          </a:p>
          <a:p>
            <a:pPr marL="518158" lvl="1" indent="-259079" algn="l">
              <a:lnSpc>
                <a:spcPts val="407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Efficiency Revolution</a:t>
            </a:r>
          </a:p>
          <a:p>
            <a:pPr marL="1036317" lvl="2" indent="-345439" algn="l">
              <a:lnSpc>
                <a:spcPts val="4079"/>
              </a:lnSpc>
              <a:buFont typeface="Arial"/>
              <a:buChar char="⚬"/>
            </a:pPr>
            <a:r>
              <a:rPr lang="en-US" sz="2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Reducing service delivery time from minutes to seconds while maintaining accuracy and relevance</a:t>
            </a:r>
          </a:p>
          <a:p>
            <a:pPr algn="l">
              <a:lnSpc>
                <a:spcPts val="4079"/>
              </a:lnSpc>
            </a:pPr>
            <a:endParaRPr lang="en-US" sz="23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361862" y="8354757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007655" y="1837212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5447285" y="0"/>
                </a:moveTo>
                <a:lnTo>
                  <a:pt x="0" y="0"/>
                </a:lnTo>
                <a:lnTo>
                  <a:pt x="0" y="891373"/>
                </a:lnTo>
                <a:lnTo>
                  <a:pt x="5447285" y="891373"/>
                </a:lnTo>
                <a:lnTo>
                  <a:pt x="5447285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282026" y="2476901"/>
            <a:ext cx="5977274" cy="5696735"/>
            <a:chOff x="0" y="0"/>
            <a:chExt cx="842530" cy="8029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42530" cy="802986"/>
            </a:xfrm>
            <a:custGeom>
              <a:avLst/>
              <a:gdLst/>
              <a:ahLst/>
              <a:cxnLst/>
              <a:rect l="l" t="t" r="r" b="b"/>
              <a:pathLst>
                <a:path w="842530" h="802986">
                  <a:moveTo>
                    <a:pt x="25905" y="0"/>
                  </a:moveTo>
                  <a:lnTo>
                    <a:pt x="816625" y="0"/>
                  </a:lnTo>
                  <a:cubicBezTo>
                    <a:pt x="830932" y="0"/>
                    <a:pt x="842530" y="11598"/>
                    <a:pt x="842530" y="25905"/>
                  </a:cubicBezTo>
                  <a:lnTo>
                    <a:pt x="842530" y="777082"/>
                  </a:lnTo>
                  <a:cubicBezTo>
                    <a:pt x="842530" y="791388"/>
                    <a:pt x="830932" y="802986"/>
                    <a:pt x="816625" y="802986"/>
                  </a:cubicBezTo>
                  <a:lnTo>
                    <a:pt x="25905" y="802986"/>
                  </a:lnTo>
                  <a:cubicBezTo>
                    <a:pt x="11598" y="802986"/>
                    <a:pt x="0" y="791388"/>
                    <a:pt x="0" y="777082"/>
                  </a:cubicBezTo>
                  <a:lnTo>
                    <a:pt x="0" y="25905"/>
                  </a:lnTo>
                  <a:cubicBezTo>
                    <a:pt x="0" y="11598"/>
                    <a:pt x="11598" y="0"/>
                    <a:pt x="2590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C131D">
                    <a:alpha val="85000"/>
                  </a:srgbClr>
                </a:gs>
                <a:gs pos="100000">
                  <a:srgbClr val="0F2E4A">
                    <a:alpha val="85000"/>
                  </a:srgbClr>
                </a:gs>
              </a:gsLst>
              <a:lin ang="0"/>
            </a:gradFill>
            <a:ln w="19050" cap="sq">
              <a:solidFill>
                <a:srgbClr val="FFFF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42530" cy="841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14280188" y="2774018"/>
            <a:ext cx="19050" cy="510250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1719395" y="5315744"/>
            <a:ext cx="510253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2151382" y="3383174"/>
            <a:ext cx="1342546" cy="1296167"/>
          </a:xfrm>
          <a:custGeom>
            <a:avLst/>
            <a:gdLst/>
            <a:ahLst/>
            <a:cxnLst/>
            <a:rect l="l" t="t" r="r" b="b"/>
            <a:pathLst>
              <a:path w="1342546" h="1296167">
                <a:moveTo>
                  <a:pt x="0" y="0"/>
                </a:moveTo>
                <a:lnTo>
                  <a:pt x="1342545" y="0"/>
                </a:lnTo>
                <a:lnTo>
                  <a:pt x="1342545" y="1296167"/>
                </a:lnTo>
                <a:lnTo>
                  <a:pt x="0" y="12961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20698" y="5953982"/>
            <a:ext cx="1373230" cy="1373230"/>
          </a:xfrm>
          <a:custGeom>
            <a:avLst/>
            <a:gdLst/>
            <a:ahLst/>
            <a:cxnLst/>
            <a:rect l="l" t="t" r="r" b="b"/>
            <a:pathLst>
              <a:path w="1373230" h="1373230">
                <a:moveTo>
                  <a:pt x="0" y="0"/>
                </a:moveTo>
                <a:lnTo>
                  <a:pt x="1373229" y="0"/>
                </a:lnTo>
                <a:lnTo>
                  <a:pt x="1373229" y="1373230"/>
                </a:lnTo>
                <a:lnTo>
                  <a:pt x="0" y="1373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972557" y="3383174"/>
            <a:ext cx="1396246" cy="1264237"/>
          </a:xfrm>
          <a:custGeom>
            <a:avLst/>
            <a:gdLst/>
            <a:ahLst/>
            <a:cxnLst/>
            <a:rect l="l" t="t" r="r" b="b"/>
            <a:pathLst>
              <a:path w="1396246" h="1264237">
                <a:moveTo>
                  <a:pt x="0" y="0"/>
                </a:moveTo>
                <a:lnTo>
                  <a:pt x="1396246" y="0"/>
                </a:lnTo>
                <a:lnTo>
                  <a:pt x="1396246" y="1264237"/>
                </a:lnTo>
                <a:lnTo>
                  <a:pt x="0" y="12642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089813" y="6037811"/>
            <a:ext cx="1161734" cy="1205573"/>
          </a:xfrm>
          <a:custGeom>
            <a:avLst/>
            <a:gdLst/>
            <a:ahLst/>
            <a:cxnLst/>
            <a:rect l="l" t="t" r="r" b="b"/>
            <a:pathLst>
              <a:path w="1161734" h="1205573">
                <a:moveTo>
                  <a:pt x="0" y="0"/>
                </a:moveTo>
                <a:lnTo>
                  <a:pt x="1161734" y="0"/>
                </a:lnTo>
                <a:lnTo>
                  <a:pt x="1161734" y="1205572"/>
                </a:lnTo>
                <a:lnTo>
                  <a:pt x="0" y="1205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665078" y="2573162"/>
            <a:ext cx="5885524" cy="7112416"/>
          </a:xfrm>
          <a:custGeom>
            <a:avLst/>
            <a:gdLst/>
            <a:ahLst/>
            <a:cxnLst/>
            <a:rect l="l" t="t" r="r" b="b"/>
            <a:pathLst>
              <a:path w="5885524" h="7112416">
                <a:moveTo>
                  <a:pt x="5885524" y="0"/>
                </a:moveTo>
                <a:lnTo>
                  <a:pt x="0" y="0"/>
                </a:lnTo>
                <a:lnTo>
                  <a:pt x="0" y="7112415"/>
                </a:lnTo>
                <a:lnTo>
                  <a:pt x="5885524" y="7112415"/>
                </a:lnTo>
                <a:lnTo>
                  <a:pt x="588552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61480" y="6573168"/>
            <a:ext cx="2823505" cy="1072932"/>
          </a:xfrm>
          <a:custGeom>
            <a:avLst/>
            <a:gdLst/>
            <a:ahLst/>
            <a:cxnLst/>
            <a:rect l="l" t="t" r="r" b="b"/>
            <a:pathLst>
              <a:path w="2823505" h="1072932">
                <a:moveTo>
                  <a:pt x="0" y="0"/>
                </a:moveTo>
                <a:lnTo>
                  <a:pt x="2823504" y="0"/>
                </a:lnTo>
                <a:lnTo>
                  <a:pt x="2823504" y="1072931"/>
                </a:lnTo>
                <a:lnTo>
                  <a:pt x="0" y="1072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65346" y="1038225"/>
            <a:ext cx="11415772" cy="170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&amp; Future Scope for Digital Services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5346" y="3094387"/>
            <a:ext cx="9899476" cy="586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Auto-update system for content.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Feed database with external service-provider data.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Answers with live data (news, weather, trends).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Explainable AI layer.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Comprehensive insights into user interactions, popular queries, and system performance metrics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Continuous Learning and Feedback Loops.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Voice integration for accessibility.</a:t>
            </a:r>
          </a:p>
          <a:p>
            <a:pPr marL="561339" lvl="1" indent="-280669" algn="just">
              <a:lnSpc>
                <a:spcPts val="519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Human escalation (connect to real agents).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2673" y="1987615"/>
            <a:ext cx="9862709" cy="148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9"/>
              </a:lnSpc>
            </a:pPr>
            <a:r>
              <a:rPr lang="en-US" sz="9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1235503" y="2272178"/>
            <a:ext cx="5447285" cy="891374"/>
          </a:xfrm>
          <a:custGeom>
            <a:avLst/>
            <a:gdLst/>
            <a:ahLst/>
            <a:cxnLst/>
            <a:rect l="l" t="t" r="r" b="b"/>
            <a:pathLst>
              <a:path w="5447285" h="891374">
                <a:moveTo>
                  <a:pt x="0" y="0"/>
                </a:moveTo>
                <a:lnTo>
                  <a:pt x="5447286" y="0"/>
                </a:lnTo>
                <a:lnTo>
                  <a:pt x="5447286" y="891373"/>
                </a:lnTo>
                <a:lnTo>
                  <a:pt x="0" y="891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579084" y="2374349"/>
            <a:ext cx="4141883" cy="5742645"/>
          </a:xfrm>
          <a:custGeom>
            <a:avLst/>
            <a:gdLst/>
            <a:ahLst/>
            <a:cxnLst/>
            <a:rect l="l" t="t" r="r" b="b"/>
            <a:pathLst>
              <a:path w="4141883" h="5742645">
                <a:moveTo>
                  <a:pt x="4141883" y="0"/>
                </a:moveTo>
                <a:lnTo>
                  <a:pt x="0" y="0"/>
                </a:lnTo>
                <a:lnTo>
                  <a:pt x="0" y="5742645"/>
                </a:lnTo>
                <a:lnTo>
                  <a:pt x="4141883" y="5742645"/>
                </a:lnTo>
                <a:lnTo>
                  <a:pt x="414188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40629" y="3462655"/>
            <a:ext cx="8588185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0"/>
              </a:lnSpc>
            </a:pPr>
            <a:r>
              <a:rPr lang="en-US" sz="2700" spc="14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READY TO REVOLUTIONIZE DIGITAL SERVICE DELIVERY IN SRI LANKA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4797" y="5712885"/>
            <a:ext cx="8588185" cy="362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Developed by SLT AI Interns</a:t>
            </a:r>
          </a:p>
          <a:p>
            <a:pPr>
              <a:lnSpc>
                <a:spcPts val="4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Team:</a:t>
            </a:r>
          </a:p>
          <a:p>
            <a:pPr algn="l">
              <a:lnSpc>
                <a:spcPts val="4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KESHARA GUNATHILAKA - gpkhgunathilaka@gmail.com</a:t>
            </a:r>
          </a:p>
          <a:p>
            <a:pPr algn="l">
              <a:lnSpc>
                <a:spcPts val="4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THINULA HARISCHANDRA - thinula.haris@gmail.com</a:t>
            </a:r>
          </a:p>
          <a:p>
            <a:pPr algn="l">
              <a:lnSpc>
                <a:spcPts val="4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MEVINU GUNARATNE - silonminakven@gmail.com</a:t>
            </a:r>
          </a:p>
          <a:p>
            <a:pPr algn="l">
              <a:lnSpc>
                <a:spcPts val="4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RANDIL JAYASINGHE - udantharandil@gmail.com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623</Words>
  <Application>Microsoft Office PowerPoint</Application>
  <PresentationFormat>Custom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Poppins Bold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Multilingual Chatbot</dc:title>
  <cp:lastModifiedBy>Keshara Gunathilaka</cp:lastModifiedBy>
  <cp:revision>3</cp:revision>
  <dcterms:created xsi:type="dcterms:W3CDTF">2006-08-16T00:00:00Z</dcterms:created>
  <dcterms:modified xsi:type="dcterms:W3CDTF">2025-09-16T15:41:46Z</dcterms:modified>
  <dc:identifier>DAGzEe-B5Es</dc:identifier>
</cp:coreProperties>
</file>